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Helvetica World" panose="020B0604020202020204" charset="-128"/>
      <p:regular r:id="rId12"/>
    </p:embeddedFont>
    <p:embeddedFont>
      <p:font typeface="Helvetica World Italics" panose="020B0604020202020204" charset="-128"/>
      <p:regular r:id="rId13"/>
    </p:embeddedFont>
    <p:embeddedFont>
      <p:font typeface="Haettenschweiler" panose="020B0706040902060204" pitchFamily="34" charset="0"/>
      <p:regular r:id="rId14"/>
    </p:embeddedFont>
    <p:embeddedFont>
      <p:font typeface="Montserrat Medium" panose="00000600000000000000" pitchFamily="2" charset="0"/>
      <p:regular r:id="rId15"/>
      <p: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EFE"/>
    <a:srgbClr val="4F81BD"/>
    <a:srgbClr val="FBFAFA"/>
    <a:srgbClr val="F3F7FC"/>
    <a:srgbClr val="F3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94" autoAdjust="0"/>
    <p:restoredTop sz="94622" autoAdjust="0"/>
  </p:normalViewPr>
  <p:slideViewPr>
    <p:cSldViewPr>
      <p:cViewPr varScale="1">
        <p:scale>
          <a:sx n="39" d="100"/>
          <a:sy n="39" d="100"/>
        </p:scale>
        <p:origin x="114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4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4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5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7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7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8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4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9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5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6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6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65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s://kenya-health-access.vercel.app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kenya-health-access.vercel.app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kenya-health-access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  <p:txBody>
          <a:bodyPr/>
          <a:lstStyle/>
          <a:p>
            <a:endParaRPr lang="en-KE"/>
          </a:p>
        </p:txBody>
      </p:sp>
      <p:sp>
        <p:nvSpPr>
          <p:cNvPr id="1048585" name="Freeform 3"/>
          <p:cNvSpPr/>
          <p:nvPr/>
        </p:nvSpPr>
        <p:spPr>
          <a:xfrm>
            <a:off x="15860002" y="8551330"/>
            <a:ext cx="1399298" cy="628412"/>
          </a:xfrm>
          <a:custGeom>
            <a:avLst/>
            <a:gdLst/>
            <a:ahLst/>
            <a:cxnLst/>
            <a:rect l="l" t="t" r="r" b="b"/>
            <a:pathLst>
              <a:path w="1399298" h="628412">
                <a:moveTo>
                  <a:pt x="0" y="0"/>
                </a:moveTo>
                <a:lnTo>
                  <a:pt x="1399298" y="0"/>
                </a:lnTo>
                <a:lnTo>
                  <a:pt x="1399298" y="628412"/>
                </a:lnTo>
                <a:lnTo>
                  <a:pt x="0" y="6284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KE"/>
          </a:p>
        </p:txBody>
      </p:sp>
      <p:sp>
        <p:nvSpPr>
          <p:cNvPr id="1048586" name="TextBox 5"/>
          <p:cNvSpPr txBox="1"/>
          <p:nvPr/>
        </p:nvSpPr>
        <p:spPr>
          <a:xfrm>
            <a:off x="1191532" y="1590343"/>
            <a:ext cx="12448652" cy="39963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89"/>
              </a:lnSpc>
            </a:pPr>
            <a:r>
              <a:rPr lang="en-US" sz="13111" spc="-458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KENYA HEALTH ACCESS PLATFORM </a:t>
            </a:r>
          </a:p>
        </p:txBody>
      </p:sp>
      <p:sp>
        <p:nvSpPr>
          <p:cNvPr id="1048587" name="TextBox 9"/>
          <p:cNvSpPr txBox="1"/>
          <p:nvPr/>
        </p:nvSpPr>
        <p:spPr>
          <a:xfrm>
            <a:off x="12262648" y="882283"/>
            <a:ext cx="1605752" cy="2621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35"/>
              </a:lnSpc>
              <a:spcBef>
                <a:spcPct val="0"/>
              </a:spcBef>
            </a:pPr>
            <a:r>
              <a:rPr lang="en-US" sz="1596" b="1" spc="-63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2026</a:t>
            </a:r>
          </a:p>
        </p:txBody>
      </p:sp>
      <p:sp>
        <p:nvSpPr>
          <p:cNvPr id="1048588" name="TextBox 10"/>
          <p:cNvSpPr txBox="1"/>
          <p:nvPr/>
        </p:nvSpPr>
        <p:spPr>
          <a:xfrm>
            <a:off x="14284037" y="882239"/>
            <a:ext cx="2975263" cy="264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5"/>
              </a:lnSpc>
              <a:spcBef>
                <a:spcPct val="0"/>
              </a:spcBef>
            </a:pPr>
            <a:r>
              <a:rPr lang="en-US" sz="1596" b="1" spc="-63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KHAP</a:t>
            </a:r>
          </a:p>
        </p:txBody>
      </p:sp>
      <p:sp>
        <p:nvSpPr>
          <p:cNvPr id="1048589" name="TextBox 11"/>
          <p:cNvSpPr txBox="1"/>
          <p:nvPr/>
        </p:nvSpPr>
        <p:spPr>
          <a:xfrm>
            <a:off x="1191532" y="6305387"/>
            <a:ext cx="10009868" cy="1447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32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USSD . SMS . Web Access to Health Facilities </a:t>
            </a:r>
          </a:p>
          <a:p>
            <a:pPr algn="just"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Connecting every Kenyan to healthcare — anytime, anywhere</a:t>
            </a:r>
            <a:endParaRPr lang="en-US" sz="3200" i="1" dirty="0">
              <a:solidFill>
                <a:schemeClr val="bg1"/>
              </a:solidFill>
              <a:latin typeface="Poppins" panose="00000500000000000000" pitchFamily="2" charset="0"/>
              <a:ea typeface="Helvetica World Italics"/>
              <a:cs typeface="Poppins" panose="00000500000000000000" pitchFamily="2" charset="0"/>
              <a:sym typeface="Helvetica World Italics"/>
            </a:endParaRPr>
          </a:p>
        </p:txBody>
      </p:sp>
      <p:sp>
        <p:nvSpPr>
          <p:cNvPr id="1048590" name="Rectangle 12"/>
          <p:cNvSpPr/>
          <p:nvPr/>
        </p:nvSpPr>
        <p:spPr>
          <a:xfrm>
            <a:off x="381649" y="7942206"/>
            <a:ext cx="12139484" cy="89154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Presenter: LORENZO KIBET KIPROTICH</a:t>
            </a:r>
          </a:p>
        </p:txBody>
      </p:sp>
      <p:pic>
        <p:nvPicPr>
          <p:cNvPr id="2097152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38100"/>
            <a:ext cx="18287999" cy="10287000"/>
          </a:xfrm>
          <a:prstGeom prst="rect">
            <a:avLst/>
          </a:prstGeom>
        </p:spPr>
      </p:pic>
      <p:pic>
        <p:nvPicPr>
          <p:cNvPr id="2097153" name="Graphic 6"/>
          <p:cNvPicPr>
            <a:picLocks noChangeAspect="1"/>
          </p:cNvPicPr>
          <p:nvPr/>
        </p:nvPicPr>
        <p:blipFill>
          <a:blip r:embed="rId5"/>
          <a:srcRect t="8097" b="8097"/>
          <a:stretch>
            <a:fillRect/>
          </a:stretch>
        </p:blipFill>
        <p:spPr>
          <a:xfrm>
            <a:off x="14493431" y="-92341"/>
            <a:ext cx="3796190" cy="3207974"/>
          </a:xfrm>
          <a:prstGeom prst="rect">
            <a:avLst/>
          </a:prstGeom>
        </p:spPr>
      </p:pic>
      <p:pic>
        <p:nvPicPr>
          <p:cNvPr id="2097154" name="Picture 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510915"/>
            <a:ext cx="2027326" cy="1569173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1" name="TextBox 14"/>
          <p:cNvSpPr txBox="1"/>
          <p:nvPr/>
        </p:nvSpPr>
        <p:spPr>
          <a:xfrm>
            <a:off x="2438400" y="239527"/>
            <a:ext cx="1028243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Poppins" panose="00000500000000000000" pitchFamily="2" charset="0"/>
                <a:cs typeface="Poppins" panose="00000500000000000000" pitchFamily="2" charset="0"/>
                <a:hlinkClick r:id="rId7"/>
              </a:rPr>
              <a:t>https://kenya-health-access.vercel.app/</a:t>
            </a:r>
            <a:endParaRPr lang="en-US" sz="28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TextBox 6"/>
          <p:cNvSpPr txBox="1"/>
          <p:nvPr/>
        </p:nvSpPr>
        <p:spPr>
          <a:xfrm>
            <a:off x="1282995" y="2926186"/>
            <a:ext cx="9125527" cy="509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Health care access challenge </a:t>
            </a:r>
          </a:p>
        </p:txBody>
      </p:sp>
      <p:sp>
        <p:nvSpPr>
          <p:cNvPr id="1048593" name="TextBox 7"/>
          <p:cNvSpPr txBox="1"/>
          <p:nvPr/>
        </p:nvSpPr>
        <p:spPr>
          <a:xfrm>
            <a:off x="1295400" y="1827191"/>
            <a:ext cx="6570755" cy="856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Problem </a:t>
            </a:r>
          </a:p>
        </p:txBody>
      </p:sp>
      <p:cxnSp>
        <p:nvCxnSpPr>
          <p:cNvPr id="3145728" name="Straight Connector 10"/>
          <p:cNvCxnSpPr>
            <a:cxnSpLocks/>
          </p:cNvCxnSpPr>
          <p:nvPr/>
        </p:nvCxnSpPr>
        <p:spPr>
          <a:xfrm>
            <a:off x="1460362" y="2552700"/>
            <a:ext cx="37974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4" name="TextBox 8"/>
          <p:cNvSpPr txBox="1"/>
          <p:nvPr/>
        </p:nvSpPr>
        <p:spPr>
          <a:xfrm>
            <a:off x="1460362" y="3468592"/>
            <a:ext cx="15151238" cy="5848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Healthcare exists  but people can’t find it.</a:t>
            </a:r>
            <a:endParaRPr lang="en-US" sz="3600" dirty="0">
              <a:solidFill>
                <a:schemeClr val="bg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  <a:p>
            <a:pPr marL="571500" indent="-5715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Healthcare facility</a:t>
            </a:r>
            <a:r>
              <a:rPr lang="en-GB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information is fragmented  (not centralized)</a:t>
            </a:r>
          </a:p>
          <a:p>
            <a:pPr marL="571500" indent="-5715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Many citizens lack smartphone or internet</a:t>
            </a:r>
          </a:p>
          <a:p>
            <a:pPr marL="571500" indent="-5715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Rural communities struggle to locate services</a:t>
            </a:r>
          </a:p>
          <a:p>
            <a:pPr marL="571500" indent="-5715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6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Delays occur during medical emergencies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endParaRPr lang="en-US" sz="36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97155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048595" name="Rectangle 3"/>
          <p:cNvSpPr/>
          <p:nvPr/>
        </p:nvSpPr>
        <p:spPr>
          <a:xfrm flipH="1">
            <a:off x="152400" y="72"/>
            <a:ext cx="2286000" cy="6477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>
              <a:solidFill>
                <a:srgbClr val="FBFAFA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4"/>
          <p:cNvGrpSpPr/>
          <p:nvPr/>
        </p:nvGrpSpPr>
        <p:grpSpPr>
          <a:xfrm>
            <a:off x="-15384" y="3315196"/>
            <a:ext cx="13660975" cy="4729509"/>
            <a:chOff x="0" y="0"/>
            <a:chExt cx="510055" cy="1142383"/>
          </a:xfrm>
        </p:grpSpPr>
        <p:sp>
          <p:nvSpPr>
            <p:cNvPr id="1048596" name="Freeform 5"/>
            <p:cNvSpPr/>
            <p:nvPr/>
          </p:nvSpPr>
          <p:spPr>
            <a:xfrm>
              <a:off x="0" y="0"/>
              <a:ext cx="510055" cy="1142383"/>
            </a:xfrm>
            <a:custGeom>
              <a:avLst/>
              <a:gdLst/>
              <a:ahLst/>
              <a:cxnLst/>
              <a:rect l="l" t="t" r="r" b="b"/>
              <a:pathLst>
                <a:path w="510055" h="1142383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1106615"/>
                  </a:lnTo>
                  <a:cubicBezTo>
                    <a:pt x="510055" y="1126369"/>
                    <a:pt x="494041" y="1142383"/>
                    <a:pt x="474287" y="1142383"/>
                  </a:cubicBezTo>
                  <a:lnTo>
                    <a:pt x="35768" y="1142383"/>
                  </a:lnTo>
                  <a:cubicBezTo>
                    <a:pt x="16014" y="1142383"/>
                    <a:pt x="0" y="1126369"/>
                    <a:pt x="0" y="1106615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54069">
                    <a:alpha val="100000"/>
                  </a:srgbClr>
                </a:gs>
                <a:gs pos="50000">
                  <a:srgbClr val="144A7F">
                    <a:alpha val="100000"/>
                  </a:srgbClr>
                </a:gs>
                <a:gs pos="100000">
                  <a:srgbClr val="3C98C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KE" dirty="0"/>
            </a:p>
          </p:txBody>
        </p:sp>
      </p:grpSp>
      <p:sp>
        <p:nvSpPr>
          <p:cNvPr id="1048597" name="TextBox 6"/>
          <p:cNvSpPr txBox="1"/>
          <p:nvPr/>
        </p:nvSpPr>
        <p:spPr>
          <a:xfrm>
            <a:off x="291415" y="1678913"/>
            <a:ext cx="8115300" cy="14478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GB" sz="3200" dirty="0">
                <a:latin typeface="Poppins" panose="00000500000000000000" pitchFamily="2" charset="0"/>
                <a:cs typeface="Poppins" panose="00000500000000000000" pitchFamily="2" charset="0"/>
              </a:rPr>
              <a:t>Most Kenyans don’t have smartphones</a:t>
            </a:r>
            <a:br>
              <a:rPr lang="en-GB" sz="3200" dirty="0"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GB" sz="3200" dirty="0">
                <a:latin typeface="Poppins" panose="00000500000000000000" pitchFamily="2" charset="0"/>
                <a:cs typeface="Poppins" panose="00000500000000000000" pitchFamily="2" charset="0"/>
              </a:rPr>
              <a:t>but almost everyone has a phone.</a:t>
            </a:r>
          </a:p>
          <a:p>
            <a:pPr algn="just">
              <a:spcBef>
                <a:spcPct val="0"/>
              </a:spcBef>
            </a:pPr>
            <a:endParaRPr lang="en-US" sz="3200" dirty="0">
              <a:solidFill>
                <a:srgbClr val="000000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sp>
        <p:nvSpPr>
          <p:cNvPr id="1048598" name="Rectangle 19"/>
          <p:cNvSpPr/>
          <p:nvPr/>
        </p:nvSpPr>
        <p:spPr>
          <a:xfrm>
            <a:off x="905683" y="130347"/>
            <a:ext cx="9517380" cy="133604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43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Insight and solution </a:t>
            </a:r>
          </a:p>
        </p:txBody>
      </p:sp>
      <p:sp>
        <p:nvSpPr>
          <p:cNvPr id="1048599" name="Rectangle 21"/>
          <p:cNvSpPr/>
          <p:nvPr/>
        </p:nvSpPr>
        <p:spPr>
          <a:xfrm>
            <a:off x="15949" y="3929537"/>
            <a:ext cx="6364010" cy="489204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2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USSD *384*43149#</a:t>
            </a:r>
          </a:p>
          <a:p>
            <a:r>
              <a:rPr lang="en-US" sz="5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USSD</a:t>
            </a:r>
            <a:br>
              <a:rPr lang="en-US" sz="5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SMS</a:t>
            </a:r>
            <a:br>
              <a:rPr lang="en-US" sz="5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Web</a:t>
            </a:r>
            <a:br>
              <a:rPr lang="en-US" sz="5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</a:br>
            <a:r>
              <a:rPr lang="en-US" sz="54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• API</a:t>
            </a:r>
          </a:p>
          <a:p>
            <a:pPr algn="ctr"/>
            <a:endParaRPr lang="en-US" sz="5400" b="0" cap="none" spc="0" dirty="0">
              <a:ln w="0"/>
              <a:solidFill>
                <a:schemeClr val="bg2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3145729" name="Straight Connector 25"/>
          <p:cNvCxnSpPr>
            <a:cxnSpLocks/>
          </p:cNvCxnSpPr>
          <p:nvPr/>
        </p:nvCxnSpPr>
        <p:spPr>
          <a:xfrm>
            <a:off x="430946" y="1485900"/>
            <a:ext cx="571283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0" name="TextBox 6"/>
          <p:cNvSpPr txBox="1"/>
          <p:nvPr/>
        </p:nvSpPr>
        <p:spPr>
          <a:xfrm>
            <a:off x="8894323" y="1682727"/>
            <a:ext cx="9372600" cy="15037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GB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Verification: A single source of truth via Admin Portal vetted by professionals</a:t>
            </a:r>
          </a:p>
          <a:p>
            <a:pPr algn="just">
              <a:lnSpc>
                <a:spcPts val="4190"/>
              </a:lnSpc>
              <a:spcBef>
                <a:spcPct val="0"/>
              </a:spcBef>
            </a:pPr>
            <a:r>
              <a:rPr lang="en-GB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2097156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023" y="5031643"/>
            <a:ext cx="5982535" cy="5268060"/>
          </a:xfrm>
          <a:prstGeom prst="rect">
            <a:avLst/>
          </a:prstGeom>
        </p:spPr>
      </p:pic>
      <p:pic>
        <p:nvPicPr>
          <p:cNvPr id="2097157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391" y="3894025"/>
            <a:ext cx="12517119" cy="6302508"/>
          </a:xfrm>
          <a:prstGeom prst="rect">
            <a:avLst/>
          </a:prstGeom>
        </p:spPr>
      </p:pic>
      <p:sp>
        <p:nvSpPr>
          <p:cNvPr id="1048601" name="TextBox 6"/>
          <p:cNvSpPr txBox="1"/>
          <p:nvPr/>
        </p:nvSpPr>
        <p:spPr>
          <a:xfrm>
            <a:off x="116809" y="3324033"/>
            <a:ext cx="10067530" cy="10113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 A Healthcare access platform available through:</a:t>
            </a:r>
          </a:p>
          <a:p>
            <a:pPr algn="just">
              <a:lnSpc>
                <a:spcPts val="4190"/>
              </a:lnSpc>
              <a:spcBef>
                <a:spcPct val="0"/>
              </a:spcBef>
            </a:pPr>
            <a:r>
              <a:rPr lang="en-GB" sz="3200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endParaRPr lang="en-US" sz="3200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8602" name="Rectangle 1"/>
          <p:cNvSpPr/>
          <p:nvPr/>
        </p:nvSpPr>
        <p:spPr>
          <a:xfrm>
            <a:off x="1265182" y="2574272"/>
            <a:ext cx="10659636" cy="62484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sz="3600" dirty="0">
                <a:latin typeface="Poppins" panose="00000500000000000000" pitchFamily="2" charset="0"/>
                <a:cs typeface="Poppins" panose="00000500000000000000" pitchFamily="2" charset="0"/>
              </a:rPr>
              <a:t>We built a multi-channel healthcare access platform.</a:t>
            </a:r>
            <a:endParaRPr lang="en-US" sz="3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2097158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49" y="-1"/>
            <a:ext cx="18250974" cy="10299703"/>
          </a:xfrm>
          <a:prstGeom prst="rect">
            <a:avLst/>
          </a:prstGeom>
        </p:spPr>
      </p:pic>
      <p:sp>
        <p:nvSpPr>
          <p:cNvPr id="1048603" name="Rectangle 2"/>
          <p:cNvSpPr/>
          <p:nvPr/>
        </p:nvSpPr>
        <p:spPr>
          <a:xfrm>
            <a:off x="-37693" y="1247"/>
            <a:ext cx="2041451" cy="714517"/>
          </a:xfrm>
          <a:prstGeom prst="rect">
            <a:avLst/>
          </a:prstGeom>
          <a:solidFill>
            <a:srgbClr val="FEFEF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4F81BD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9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1452" y="3111498"/>
            <a:ext cx="10344663" cy="5038669"/>
          </a:xfrm>
          <a:prstGeom prst="rect">
            <a:avLst/>
          </a:prstGeom>
        </p:spPr>
      </p:pic>
      <p:sp>
        <p:nvSpPr>
          <p:cNvPr id="1048604" name="TextBox 5"/>
          <p:cNvSpPr txBox="1"/>
          <p:nvPr/>
        </p:nvSpPr>
        <p:spPr>
          <a:xfrm>
            <a:off x="927904" y="2718872"/>
            <a:ext cx="13356228" cy="63563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lnSpc>
                <a:spcPct val="2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Dial *384#</a:t>
            </a:r>
          </a:p>
          <a:p>
            <a:pPr marL="514350" indent="-514350" algn="just">
              <a:lnSpc>
                <a:spcPct val="2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Select county</a:t>
            </a:r>
          </a:p>
          <a:p>
            <a:pPr marL="514350" indent="-514350" algn="just">
              <a:lnSpc>
                <a:spcPct val="2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Select Service needed </a:t>
            </a:r>
          </a:p>
          <a:p>
            <a:pPr marL="514350" indent="-514350" algn="just">
              <a:lnSpc>
                <a:spcPct val="20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40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View nearest facilities displayed</a:t>
            </a:r>
          </a:p>
          <a:p>
            <a:pPr algn="just">
              <a:lnSpc>
                <a:spcPct val="200000"/>
              </a:lnSpc>
              <a:spcBef>
                <a:spcPct val="0"/>
              </a:spcBef>
            </a:pPr>
            <a:r>
              <a:rPr lang="en-GB" sz="36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This turns any phone into a healthcare navigation tool</a:t>
            </a:r>
            <a:r>
              <a:rPr lang="en-US" sz="3600" dirty="0">
                <a:solidFill>
                  <a:schemeClr val="bg1"/>
                </a:solidFill>
                <a:latin typeface="Poppins" panose="00000500000000000000" pitchFamily="2" charset="0"/>
                <a:ea typeface="Poppins"/>
                <a:cs typeface="Poppins" panose="00000500000000000000" pitchFamily="2" charset="0"/>
                <a:sym typeface="Poppins"/>
              </a:rPr>
              <a:t> 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endParaRPr lang="en-US" sz="289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8605" name="TextBox 6"/>
          <p:cNvSpPr txBox="1"/>
          <p:nvPr/>
        </p:nvSpPr>
        <p:spPr>
          <a:xfrm>
            <a:off x="1524000" y="1570443"/>
            <a:ext cx="9674904" cy="8561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How it works </a:t>
            </a:r>
          </a:p>
        </p:txBody>
      </p:sp>
      <p:grpSp>
        <p:nvGrpSpPr>
          <p:cNvPr id="28" name="Group 9"/>
          <p:cNvGrpSpPr/>
          <p:nvPr/>
        </p:nvGrpSpPr>
        <p:grpSpPr>
          <a:xfrm>
            <a:off x="14284132" y="-29240"/>
            <a:ext cx="3991463" cy="3991463"/>
            <a:chOff x="0" y="0"/>
            <a:chExt cx="812800" cy="812800"/>
          </a:xfrm>
        </p:grpSpPr>
        <p:sp>
          <p:nvSpPr>
            <p:cNvPr id="1048606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21336" y="0"/>
                  </a:moveTo>
                  <a:lnTo>
                    <a:pt x="791464" y="0"/>
                  </a:lnTo>
                  <a:cubicBezTo>
                    <a:pt x="803248" y="0"/>
                    <a:pt x="812800" y="9552"/>
                    <a:pt x="812800" y="21336"/>
                  </a:cubicBezTo>
                  <a:lnTo>
                    <a:pt x="812800" y="791464"/>
                  </a:lnTo>
                  <a:cubicBezTo>
                    <a:pt x="812800" y="803248"/>
                    <a:pt x="803248" y="812800"/>
                    <a:pt x="791464" y="812800"/>
                  </a:cubicBezTo>
                  <a:lnTo>
                    <a:pt x="21336" y="812800"/>
                  </a:lnTo>
                  <a:cubicBezTo>
                    <a:pt x="9552" y="812800"/>
                    <a:pt x="0" y="803248"/>
                    <a:pt x="0" y="791464"/>
                  </a:cubicBezTo>
                  <a:lnTo>
                    <a:pt x="0" y="21336"/>
                  </a:lnTo>
                  <a:cubicBezTo>
                    <a:pt x="0" y="9552"/>
                    <a:pt x="9552" y="0"/>
                    <a:pt x="21336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54069">
                    <a:alpha val="100000"/>
                  </a:srgbClr>
                </a:gs>
                <a:gs pos="50000">
                  <a:srgbClr val="144A7F">
                    <a:alpha val="100000"/>
                  </a:srgbClr>
                </a:gs>
                <a:gs pos="100000">
                  <a:srgbClr val="3C98CB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KE"/>
            </a:p>
          </p:txBody>
        </p:sp>
      </p:grpSp>
      <p:cxnSp>
        <p:nvCxnSpPr>
          <p:cNvPr id="3145730" name="Straight Connector 22"/>
          <p:cNvCxnSpPr>
            <a:cxnSpLocks/>
          </p:cNvCxnSpPr>
          <p:nvPr/>
        </p:nvCxnSpPr>
        <p:spPr>
          <a:xfrm flipV="1">
            <a:off x="1344261" y="2324100"/>
            <a:ext cx="5473838" cy="337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60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5" y="0"/>
            <a:ext cx="18275595" cy="10477500"/>
          </a:xfrm>
          <a:prstGeom prst="rect">
            <a:avLst/>
          </a:prstGeom>
        </p:spPr>
      </p:pic>
      <p:sp>
        <p:nvSpPr>
          <p:cNvPr id="1048607" name="Rectangle 3"/>
          <p:cNvSpPr/>
          <p:nvPr/>
        </p:nvSpPr>
        <p:spPr>
          <a:xfrm>
            <a:off x="342900" y="-17080"/>
            <a:ext cx="2362200" cy="84841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048608" name="TextBox 1"/>
          <p:cNvSpPr txBox="1"/>
          <p:nvPr/>
        </p:nvSpPr>
        <p:spPr>
          <a:xfrm>
            <a:off x="8153400" y="7675802"/>
            <a:ext cx="69154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Poppins" panose="00000500000000000000" pitchFamily="2" charset="0"/>
                <a:cs typeface="Poppins" panose="00000500000000000000" pitchFamily="2" charset="0"/>
                <a:hlinkClick r:id="rId4"/>
              </a:rPr>
              <a:t>https://kenya-health-access.vercel.app/</a:t>
            </a:r>
            <a:endParaRPr lang="en-US" sz="2400" b="1" dirty="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Group 2"/>
          <p:cNvGrpSpPr/>
          <p:nvPr/>
        </p:nvGrpSpPr>
        <p:grpSpPr>
          <a:xfrm>
            <a:off x="426219" y="3705816"/>
            <a:ext cx="8416541" cy="5555327"/>
            <a:chOff x="0" y="0"/>
            <a:chExt cx="1372016" cy="1463131"/>
          </a:xfrm>
        </p:grpSpPr>
        <p:sp>
          <p:nvSpPr>
            <p:cNvPr id="1048609" name="Freeform 3"/>
            <p:cNvSpPr/>
            <p:nvPr/>
          </p:nvSpPr>
          <p:spPr>
            <a:xfrm>
              <a:off x="0" y="0"/>
              <a:ext cx="1372016" cy="1463131"/>
            </a:xfrm>
            <a:custGeom>
              <a:avLst/>
              <a:gdLst/>
              <a:ahLst/>
              <a:cxnLst/>
              <a:rect l="l" t="t" r="r" b="b"/>
              <a:pathLst>
                <a:path w="1372016" h="1463131">
                  <a:moveTo>
                    <a:pt x="56474" y="0"/>
                  </a:moveTo>
                  <a:lnTo>
                    <a:pt x="1315542" y="0"/>
                  </a:lnTo>
                  <a:cubicBezTo>
                    <a:pt x="1330520" y="0"/>
                    <a:pt x="1344884" y="5950"/>
                    <a:pt x="1355475" y="16541"/>
                  </a:cubicBezTo>
                  <a:cubicBezTo>
                    <a:pt x="1366066" y="27132"/>
                    <a:pt x="1372016" y="41496"/>
                    <a:pt x="1372016" y="56474"/>
                  </a:cubicBezTo>
                  <a:lnTo>
                    <a:pt x="1372016" y="1406658"/>
                  </a:lnTo>
                  <a:cubicBezTo>
                    <a:pt x="1372016" y="1421635"/>
                    <a:pt x="1366066" y="1436000"/>
                    <a:pt x="1355475" y="1446591"/>
                  </a:cubicBezTo>
                  <a:cubicBezTo>
                    <a:pt x="1344884" y="1457181"/>
                    <a:pt x="1330520" y="1463131"/>
                    <a:pt x="1315542" y="1463131"/>
                  </a:cubicBezTo>
                  <a:lnTo>
                    <a:pt x="56474" y="1463131"/>
                  </a:lnTo>
                  <a:cubicBezTo>
                    <a:pt x="41496" y="1463131"/>
                    <a:pt x="27132" y="1457181"/>
                    <a:pt x="16541" y="1446591"/>
                  </a:cubicBezTo>
                  <a:cubicBezTo>
                    <a:pt x="5950" y="1436000"/>
                    <a:pt x="0" y="1421635"/>
                    <a:pt x="0" y="1406658"/>
                  </a:cubicBezTo>
                  <a:lnTo>
                    <a:pt x="0" y="56474"/>
                  </a:lnTo>
                  <a:cubicBezTo>
                    <a:pt x="0" y="41496"/>
                    <a:pt x="5950" y="27132"/>
                    <a:pt x="16541" y="16541"/>
                  </a:cubicBezTo>
                  <a:cubicBezTo>
                    <a:pt x="27132" y="5950"/>
                    <a:pt x="41496" y="0"/>
                    <a:pt x="56474" y="0"/>
                  </a:cubicBezTo>
                  <a:close/>
                </a:path>
              </a:pathLst>
            </a:custGeom>
            <a:solidFill>
              <a:srgbClr val="154069"/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048610" name="TextBox 4"/>
            <p:cNvSpPr txBox="1"/>
            <p:nvPr/>
          </p:nvSpPr>
          <p:spPr>
            <a:xfrm>
              <a:off x="0" y="-28575"/>
              <a:ext cx="1372016" cy="1491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5"/>
                </a:lnSpc>
              </a:pPr>
              <a:endParaRPr/>
            </a:p>
          </p:txBody>
        </p:sp>
      </p:grpSp>
      <p:grpSp>
        <p:nvGrpSpPr>
          <p:cNvPr id="31" name="Group 5"/>
          <p:cNvGrpSpPr/>
          <p:nvPr/>
        </p:nvGrpSpPr>
        <p:grpSpPr>
          <a:xfrm>
            <a:off x="9473592" y="3664631"/>
            <a:ext cx="8235877" cy="5555327"/>
            <a:chOff x="0" y="0"/>
            <a:chExt cx="1372016" cy="1463131"/>
          </a:xfrm>
        </p:grpSpPr>
        <p:sp>
          <p:nvSpPr>
            <p:cNvPr id="1048611" name="Freeform 6"/>
            <p:cNvSpPr/>
            <p:nvPr/>
          </p:nvSpPr>
          <p:spPr>
            <a:xfrm>
              <a:off x="0" y="0"/>
              <a:ext cx="1372016" cy="1463131"/>
            </a:xfrm>
            <a:custGeom>
              <a:avLst/>
              <a:gdLst/>
              <a:ahLst/>
              <a:cxnLst/>
              <a:rect l="l" t="t" r="r" b="b"/>
              <a:pathLst>
                <a:path w="1372016" h="1463131">
                  <a:moveTo>
                    <a:pt x="56474" y="0"/>
                  </a:moveTo>
                  <a:lnTo>
                    <a:pt x="1315542" y="0"/>
                  </a:lnTo>
                  <a:cubicBezTo>
                    <a:pt x="1330520" y="0"/>
                    <a:pt x="1344884" y="5950"/>
                    <a:pt x="1355475" y="16541"/>
                  </a:cubicBezTo>
                  <a:cubicBezTo>
                    <a:pt x="1366066" y="27132"/>
                    <a:pt x="1372016" y="41496"/>
                    <a:pt x="1372016" y="56474"/>
                  </a:cubicBezTo>
                  <a:lnTo>
                    <a:pt x="1372016" y="1406658"/>
                  </a:lnTo>
                  <a:cubicBezTo>
                    <a:pt x="1372016" y="1421635"/>
                    <a:pt x="1366066" y="1436000"/>
                    <a:pt x="1355475" y="1446591"/>
                  </a:cubicBezTo>
                  <a:cubicBezTo>
                    <a:pt x="1344884" y="1457181"/>
                    <a:pt x="1330520" y="1463131"/>
                    <a:pt x="1315542" y="1463131"/>
                  </a:cubicBezTo>
                  <a:lnTo>
                    <a:pt x="56474" y="1463131"/>
                  </a:lnTo>
                  <a:cubicBezTo>
                    <a:pt x="41496" y="1463131"/>
                    <a:pt x="27132" y="1457181"/>
                    <a:pt x="16541" y="1446591"/>
                  </a:cubicBezTo>
                  <a:cubicBezTo>
                    <a:pt x="5950" y="1436000"/>
                    <a:pt x="0" y="1421635"/>
                    <a:pt x="0" y="1406658"/>
                  </a:cubicBezTo>
                  <a:lnTo>
                    <a:pt x="0" y="56474"/>
                  </a:lnTo>
                  <a:cubicBezTo>
                    <a:pt x="0" y="41496"/>
                    <a:pt x="5950" y="27132"/>
                    <a:pt x="16541" y="16541"/>
                  </a:cubicBezTo>
                  <a:cubicBezTo>
                    <a:pt x="27132" y="5950"/>
                    <a:pt x="41496" y="0"/>
                    <a:pt x="56474" y="0"/>
                  </a:cubicBezTo>
                  <a:close/>
                </a:path>
              </a:pathLst>
            </a:custGeom>
            <a:solidFill>
              <a:srgbClr val="154069">
                <a:alpha val="91765"/>
              </a:srgbClr>
            </a:solidFill>
          </p:spPr>
          <p:txBody>
            <a:bodyPr/>
            <a:lstStyle/>
            <a:p>
              <a:endParaRPr lang="en-KE"/>
            </a:p>
          </p:txBody>
        </p:sp>
        <p:sp>
          <p:nvSpPr>
            <p:cNvPr id="1048612" name="TextBox 7"/>
            <p:cNvSpPr txBox="1"/>
            <p:nvPr/>
          </p:nvSpPr>
          <p:spPr>
            <a:xfrm>
              <a:off x="0" y="-28575"/>
              <a:ext cx="1372016" cy="14917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5"/>
                </a:lnSpc>
              </a:pPr>
              <a:endParaRPr/>
            </a:p>
          </p:txBody>
        </p:sp>
      </p:grpSp>
      <p:sp>
        <p:nvSpPr>
          <p:cNvPr id="1048613" name="TextBox 20"/>
          <p:cNvSpPr txBox="1"/>
          <p:nvPr/>
        </p:nvSpPr>
        <p:spPr>
          <a:xfrm>
            <a:off x="1028700" y="1257300"/>
            <a:ext cx="12095157" cy="10786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93"/>
              </a:lnSpc>
            </a:pPr>
            <a:r>
              <a:rPr lang="en-US" sz="8430" spc="-316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Users and beneficiaries </a:t>
            </a:r>
          </a:p>
        </p:txBody>
      </p:sp>
      <p:sp>
        <p:nvSpPr>
          <p:cNvPr id="1048614" name="TextBox 21"/>
          <p:cNvSpPr txBox="1"/>
          <p:nvPr/>
        </p:nvSpPr>
        <p:spPr>
          <a:xfrm>
            <a:off x="787545" y="4170871"/>
            <a:ext cx="8055215" cy="3623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Patients and Citizens</a:t>
            </a: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Quickly locate nearby Healthcare services.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sz="3200" u="sng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Rural communities</a:t>
            </a: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Access health care information without internet.</a:t>
            </a:r>
          </a:p>
        </p:txBody>
      </p:sp>
      <p:sp>
        <p:nvSpPr>
          <p:cNvPr id="1048615" name="TextBox 22"/>
          <p:cNvSpPr txBox="1"/>
          <p:nvPr/>
        </p:nvSpPr>
        <p:spPr>
          <a:xfrm>
            <a:off x="9698187" y="4170871"/>
            <a:ext cx="7786686" cy="48755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  <a:spcBef>
                <a:spcPct val="0"/>
              </a:spcBef>
            </a:pPr>
            <a:r>
              <a:rPr lang="en-US" sz="3200" u="sng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Government and NGOs</a:t>
            </a: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Better health care planning and data visibility.</a:t>
            </a:r>
          </a:p>
          <a:p>
            <a:pPr algn="l">
              <a:lnSpc>
                <a:spcPct val="150000"/>
              </a:lnSpc>
              <a:spcBef>
                <a:spcPct val="0"/>
              </a:spcBef>
            </a:pPr>
            <a:endParaRPr lang="en-US" sz="320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3200" u="sng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Community health workers</a:t>
            </a: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Guide patients to appropriate facilities.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Support field work and referrals.</a:t>
            </a:r>
          </a:p>
          <a:p>
            <a:pPr algn="l">
              <a:lnSpc>
                <a:spcPts val="4190"/>
              </a:lnSpc>
              <a:spcBef>
                <a:spcPct val="0"/>
              </a:spcBef>
            </a:pPr>
            <a:endParaRPr lang="en-US" sz="299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3145731" name="Straight Connector 30"/>
          <p:cNvCxnSpPr>
            <a:cxnSpLocks/>
          </p:cNvCxnSpPr>
          <p:nvPr/>
        </p:nvCxnSpPr>
        <p:spPr>
          <a:xfrm>
            <a:off x="1028700" y="2171700"/>
            <a:ext cx="10934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Title 14"/>
          <p:cNvSpPr txBox="1"/>
          <p:nvPr/>
        </p:nvSpPr>
        <p:spPr>
          <a:xfrm>
            <a:off x="304800" y="869491"/>
            <a:ext cx="13487400" cy="2369009"/>
          </a:xfrm>
          <a:prstGeom prst="rect">
            <a:avLst/>
          </a:prstGeom>
        </p:spPr>
        <p:txBody>
          <a:bodyPr/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430" dirty="0">
                <a:solidFill>
                  <a:schemeClr val="bg1"/>
                </a:solidFill>
                <a:latin typeface="Helvetica World" panose="020B0604020202020204" charset="-128"/>
                <a:ea typeface="Helvetica World" panose="020B0604020202020204" charset="-128"/>
                <a:cs typeface="Helvetica World" panose="020B0604020202020204" charset="-128"/>
              </a:rPr>
              <a:t>Sustainability and scalability</a:t>
            </a:r>
          </a:p>
        </p:txBody>
      </p:sp>
      <p:cxnSp>
        <p:nvCxnSpPr>
          <p:cNvPr id="3145732" name="Straight Connector 24"/>
          <p:cNvCxnSpPr>
            <a:cxnSpLocks/>
          </p:cNvCxnSpPr>
          <p:nvPr/>
        </p:nvCxnSpPr>
        <p:spPr>
          <a:xfrm>
            <a:off x="611372" y="2247900"/>
            <a:ext cx="1287602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17" name="TextBox 5"/>
          <p:cNvSpPr txBox="1"/>
          <p:nvPr/>
        </p:nvSpPr>
        <p:spPr>
          <a:xfrm>
            <a:off x="620232" y="3238500"/>
            <a:ext cx="13356228" cy="37263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B2B Model: Data licensing for insurance companies and NGOs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GB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Listings. Subscription based visibility for healthcare providers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Health Campaign Sponsorship 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93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Access for Digital Health Apps</a:t>
            </a:r>
          </a:p>
        </p:txBody>
      </p:sp>
      <p:pic>
        <p:nvPicPr>
          <p:cNvPr id="2097161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048618" name="Rectangle 6"/>
          <p:cNvSpPr/>
          <p:nvPr/>
        </p:nvSpPr>
        <p:spPr>
          <a:xfrm>
            <a:off x="0" y="0"/>
            <a:ext cx="2600150" cy="807333"/>
          </a:xfrm>
          <a:prstGeom prst="rect">
            <a:avLst/>
          </a:prstGeom>
          <a:solidFill>
            <a:srgbClr val="F3F8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7051A">
                <a:alpha val="100000"/>
              </a:srgbClr>
            </a:gs>
            <a:gs pos="100000">
              <a:srgbClr val="19174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9" name="TextBox 6"/>
          <p:cNvSpPr txBox="1"/>
          <p:nvPr/>
        </p:nvSpPr>
        <p:spPr>
          <a:xfrm>
            <a:off x="1465144" y="3039592"/>
            <a:ext cx="9125527" cy="154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600" u="sng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Phase 1</a:t>
            </a: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National Access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Ussd platform and national facility database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Basic health information services </a:t>
            </a:r>
          </a:p>
        </p:txBody>
      </p:sp>
      <p:sp>
        <p:nvSpPr>
          <p:cNvPr id="1048620" name="TextBox 7"/>
          <p:cNvSpPr txBox="1"/>
          <p:nvPr/>
        </p:nvSpPr>
        <p:spPr>
          <a:xfrm>
            <a:off x="1465144" y="1944940"/>
            <a:ext cx="8360429" cy="856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741"/>
              </a:lnSpc>
            </a:pPr>
            <a:r>
              <a:rPr lang="en-US" sz="8426" spc="-294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Vision Roadmap</a:t>
            </a:r>
          </a:p>
        </p:txBody>
      </p:sp>
      <p:sp>
        <p:nvSpPr>
          <p:cNvPr id="1048621" name="TextBox 8"/>
          <p:cNvSpPr txBox="1"/>
          <p:nvPr/>
        </p:nvSpPr>
        <p:spPr>
          <a:xfrm>
            <a:off x="9479971" y="4454547"/>
            <a:ext cx="8841699" cy="25717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600" u="sng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Phase 2</a:t>
            </a: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Smart health services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Ambulance integration and telemedicine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Planning to integrate a multilingual USSD system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Mobile health applications 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endParaRPr lang="en-US" sz="2893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8622" name="TextBox 8"/>
          <p:cNvSpPr txBox="1"/>
          <p:nvPr/>
        </p:nvSpPr>
        <p:spPr>
          <a:xfrm>
            <a:off x="312117" y="5701811"/>
            <a:ext cx="9125527" cy="1549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600" u="sng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Phase 3</a:t>
            </a: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: Intelligent health platform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Ai health guidance and regional expansion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Predictive Healthcare data insights </a:t>
            </a:r>
          </a:p>
        </p:txBody>
      </p:sp>
      <p:sp>
        <p:nvSpPr>
          <p:cNvPr id="1048623" name="TextBox 8"/>
          <p:cNvSpPr txBox="1"/>
          <p:nvPr/>
        </p:nvSpPr>
        <p:spPr>
          <a:xfrm>
            <a:off x="666179" y="7919131"/>
            <a:ext cx="9125527" cy="1543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US" sz="3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Our goal : Make health care discovery accessible to everyone </a:t>
            </a:r>
          </a:p>
          <a:p>
            <a:pPr algn="just">
              <a:lnSpc>
                <a:spcPts val="4050"/>
              </a:lnSpc>
              <a:spcBef>
                <a:spcPct val="0"/>
              </a:spcBef>
            </a:pPr>
            <a:r>
              <a:rPr lang="en-GB" sz="3200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</a:rPr>
              <a:t>From directory → to national health infrastructure</a:t>
            </a:r>
            <a:endParaRPr lang="en-US" sz="3200" dirty="0">
              <a:solidFill>
                <a:schemeClr val="bg1"/>
              </a:solidFill>
              <a:latin typeface="Poppins" panose="00000500000000000000" pitchFamily="2" charset="0"/>
              <a:ea typeface="Poppins"/>
              <a:cs typeface="Poppins" panose="00000500000000000000" pitchFamily="2" charset="0"/>
              <a:sym typeface="Poppins"/>
            </a:endParaRPr>
          </a:p>
        </p:txBody>
      </p:sp>
      <p:cxnSp>
        <p:nvCxnSpPr>
          <p:cNvPr id="3145733" name="Straight Connector 13"/>
          <p:cNvCxnSpPr>
            <a:cxnSpLocks/>
          </p:cNvCxnSpPr>
          <p:nvPr/>
        </p:nvCxnSpPr>
        <p:spPr>
          <a:xfrm>
            <a:off x="1828800" y="2705100"/>
            <a:ext cx="670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24" name="Arrow: Curved Down 17"/>
          <p:cNvSpPr/>
          <p:nvPr/>
        </p:nvSpPr>
        <p:spPr>
          <a:xfrm rot="562501">
            <a:off x="8627531" y="1871421"/>
            <a:ext cx="4955679" cy="1549783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>
              <a:solidFill>
                <a:schemeClr val="tx1"/>
              </a:solidFill>
            </a:endParaRPr>
          </a:p>
        </p:txBody>
      </p:sp>
      <p:sp>
        <p:nvSpPr>
          <p:cNvPr id="1048625" name="Arrow: Curved Down 19"/>
          <p:cNvSpPr/>
          <p:nvPr/>
        </p:nvSpPr>
        <p:spPr>
          <a:xfrm rot="10424475">
            <a:off x="7005751" y="7236879"/>
            <a:ext cx="4863787" cy="157854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TextBox 2"/>
          <p:cNvSpPr txBox="1"/>
          <p:nvPr/>
        </p:nvSpPr>
        <p:spPr>
          <a:xfrm>
            <a:off x="1066800" y="1219329"/>
            <a:ext cx="14516100" cy="25988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21"/>
              </a:lnSpc>
            </a:pPr>
            <a:r>
              <a:rPr lang="en-US" sz="8526" spc="-298" dirty="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Asks and why this wins</a:t>
            </a:r>
          </a:p>
          <a:p>
            <a:pPr>
              <a:lnSpc>
                <a:spcPts val="6821"/>
              </a:lnSpc>
            </a:pPr>
            <a:r>
              <a:rPr lang="en-GB" sz="4400" dirty="0"/>
              <a:t>We are ready to move from prototype to real-world deployment</a:t>
            </a:r>
            <a:endParaRPr lang="en-US" sz="8526" spc="-298" dirty="0">
              <a:solidFill>
                <a:srgbClr val="000000"/>
              </a:solidFill>
              <a:latin typeface="Helvetica World"/>
              <a:ea typeface="Helvetica World"/>
              <a:cs typeface="Helvetica World"/>
              <a:sym typeface="Helvetica World"/>
            </a:endParaRPr>
          </a:p>
        </p:txBody>
      </p:sp>
      <p:grpSp>
        <p:nvGrpSpPr>
          <p:cNvPr id="35" name="Group 4"/>
          <p:cNvGrpSpPr/>
          <p:nvPr/>
        </p:nvGrpSpPr>
        <p:grpSpPr>
          <a:xfrm>
            <a:off x="12405" y="3826490"/>
            <a:ext cx="18275595" cy="5952890"/>
            <a:chOff x="0" y="0"/>
            <a:chExt cx="510055" cy="1142383"/>
          </a:xfrm>
        </p:grpSpPr>
        <p:sp>
          <p:nvSpPr>
            <p:cNvPr id="1048627" name="Freeform 5"/>
            <p:cNvSpPr/>
            <p:nvPr/>
          </p:nvSpPr>
          <p:spPr>
            <a:xfrm>
              <a:off x="0" y="0"/>
              <a:ext cx="510055" cy="1142383"/>
            </a:xfrm>
            <a:custGeom>
              <a:avLst/>
              <a:gdLst/>
              <a:ahLst/>
              <a:cxnLst/>
              <a:rect l="l" t="t" r="r" b="b"/>
              <a:pathLst>
                <a:path w="510055" h="1142383">
                  <a:moveTo>
                    <a:pt x="35768" y="0"/>
                  </a:moveTo>
                  <a:lnTo>
                    <a:pt x="474287" y="0"/>
                  </a:lnTo>
                  <a:cubicBezTo>
                    <a:pt x="494041" y="0"/>
                    <a:pt x="510055" y="16014"/>
                    <a:pt x="510055" y="35768"/>
                  </a:cubicBezTo>
                  <a:lnTo>
                    <a:pt x="510055" y="1106615"/>
                  </a:lnTo>
                  <a:cubicBezTo>
                    <a:pt x="510055" y="1126369"/>
                    <a:pt x="494041" y="1142383"/>
                    <a:pt x="474287" y="1142383"/>
                  </a:cubicBezTo>
                  <a:lnTo>
                    <a:pt x="35768" y="1142383"/>
                  </a:lnTo>
                  <a:cubicBezTo>
                    <a:pt x="16014" y="1142383"/>
                    <a:pt x="0" y="1126369"/>
                    <a:pt x="0" y="1106615"/>
                  </a:cubicBezTo>
                  <a:lnTo>
                    <a:pt x="0" y="35768"/>
                  </a:lnTo>
                  <a:cubicBezTo>
                    <a:pt x="0" y="16014"/>
                    <a:pt x="16014" y="0"/>
                    <a:pt x="35768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54069">
                    <a:alpha val="100000"/>
                  </a:srgbClr>
                </a:gs>
                <a:gs pos="50000">
                  <a:srgbClr val="144A7F">
                    <a:alpha val="100000"/>
                  </a:srgbClr>
                </a:gs>
                <a:gs pos="100000">
                  <a:srgbClr val="3C98CB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KE" dirty="0"/>
            </a:p>
          </p:txBody>
        </p:sp>
      </p:grpSp>
      <p:sp>
        <p:nvSpPr>
          <p:cNvPr id="1048628" name="TextBox 16"/>
          <p:cNvSpPr txBox="1"/>
          <p:nvPr/>
        </p:nvSpPr>
        <p:spPr>
          <a:xfrm>
            <a:off x="685800" y="4276536"/>
            <a:ext cx="7875847" cy="2481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Partnerships with telecom operators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Collaboration with health facilities</a:t>
            </a:r>
          </a:p>
          <a:p>
            <a:pPr marL="457200" indent="-4572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Support for deployment and scaling pilot test </a:t>
            </a:r>
          </a:p>
          <a:p>
            <a:pPr algn="just">
              <a:lnSpc>
                <a:spcPts val="4190"/>
              </a:lnSpc>
              <a:spcBef>
                <a:spcPct val="0"/>
              </a:spcBef>
            </a:pPr>
            <a:endParaRPr lang="en-US" sz="2993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048629" name="TextBox 16"/>
          <p:cNvSpPr txBox="1"/>
          <p:nvPr/>
        </p:nvSpPr>
        <p:spPr>
          <a:xfrm>
            <a:off x="9144000" y="4533481"/>
            <a:ext cx="7875847" cy="32044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 algn="just">
              <a:lnSpc>
                <a:spcPts val="41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Inclusive technology</a:t>
            </a:r>
          </a:p>
          <a:p>
            <a:pPr marL="457200" indent="-457200" algn="just">
              <a:lnSpc>
                <a:spcPts val="41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Data driven health care access</a:t>
            </a:r>
          </a:p>
          <a:p>
            <a:pPr marL="457200" indent="-457200" algn="just">
              <a:lnSpc>
                <a:spcPts val="41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Real world national impact</a:t>
            </a:r>
          </a:p>
          <a:p>
            <a:pPr marL="457200" indent="-457200" algn="just">
              <a:lnSpc>
                <a:spcPts val="419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bg1"/>
                </a:solidFill>
                <a:latin typeface="Poppins"/>
                <a:ea typeface="Poppins"/>
                <a:cs typeface="Poppins"/>
                <a:sym typeface="Poppins"/>
              </a:rPr>
              <a:t>Scalable across Kenya and Africa</a:t>
            </a:r>
          </a:p>
          <a:p>
            <a:pPr algn="just">
              <a:lnSpc>
                <a:spcPts val="4190"/>
              </a:lnSpc>
              <a:spcBef>
                <a:spcPct val="0"/>
              </a:spcBef>
            </a:pPr>
            <a:r>
              <a:rPr lang="en-US" sz="2993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algn="just">
              <a:lnSpc>
                <a:spcPts val="4190"/>
              </a:lnSpc>
              <a:spcBef>
                <a:spcPct val="0"/>
              </a:spcBef>
            </a:pPr>
            <a:endParaRPr lang="en-US" sz="2993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68518" b="-68518"/>
            </a:stretch>
          </a:blipFill>
        </p:spPr>
        <p:txBody>
          <a:bodyPr/>
          <a:lstStyle/>
          <a:p>
            <a:endParaRPr lang="en-KE" dirty="0"/>
          </a:p>
        </p:txBody>
      </p:sp>
      <p:sp>
        <p:nvSpPr>
          <p:cNvPr id="1048631" name="TextBox 5"/>
          <p:cNvSpPr txBox="1"/>
          <p:nvPr/>
        </p:nvSpPr>
        <p:spPr>
          <a:xfrm>
            <a:off x="11163300" y="6143055"/>
            <a:ext cx="8115300" cy="2977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22"/>
              </a:lnSpc>
            </a:pPr>
            <a:r>
              <a:rPr lang="en-US" sz="14653" spc="-51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Thank</a:t>
            </a:r>
          </a:p>
          <a:p>
            <a:pPr algn="l">
              <a:lnSpc>
                <a:spcPts val="11722"/>
              </a:lnSpc>
            </a:pPr>
            <a:r>
              <a:rPr lang="en-US" sz="14653" spc="-512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You</a:t>
            </a:r>
          </a:p>
        </p:txBody>
      </p:sp>
      <p:sp>
        <p:nvSpPr>
          <p:cNvPr id="1048632" name="TextBox 8"/>
          <p:cNvSpPr txBox="1"/>
          <p:nvPr/>
        </p:nvSpPr>
        <p:spPr>
          <a:xfrm>
            <a:off x="10169208" y="882283"/>
            <a:ext cx="2561994" cy="2821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235"/>
              </a:lnSpc>
              <a:spcBef>
                <a:spcPct val="0"/>
              </a:spcBef>
            </a:pPr>
            <a:r>
              <a:rPr lang="en-US" sz="2000" b="1" spc="-63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Lorenzo</a:t>
            </a:r>
          </a:p>
        </p:txBody>
      </p:sp>
      <p:sp>
        <p:nvSpPr>
          <p:cNvPr id="1048633" name="TextBox 9"/>
          <p:cNvSpPr txBox="1"/>
          <p:nvPr/>
        </p:nvSpPr>
        <p:spPr>
          <a:xfrm>
            <a:off x="12262648" y="882283"/>
            <a:ext cx="993815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35"/>
              </a:lnSpc>
              <a:spcBef>
                <a:spcPct val="0"/>
              </a:spcBef>
            </a:pPr>
            <a:r>
              <a:rPr lang="en-US" sz="2000" b="1" spc="-63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2026</a:t>
            </a:r>
          </a:p>
        </p:txBody>
      </p:sp>
      <p:sp>
        <p:nvSpPr>
          <p:cNvPr id="1048634" name="TextBox 10"/>
          <p:cNvSpPr txBox="1"/>
          <p:nvPr/>
        </p:nvSpPr>
        <p:spPr>
          <a:xfrm>
            <a:off x="14284037" y="882239"/>
            <a:ext cx="2975263" cy="2821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235"/>
              </a:lnSpc>
              <a:spcBef>
                <a:spcPct val="0"/>
              </a:spcBef>
            </a:pPr>
            <a:r>
              <a:rPr lang="en-US" sz="2000" b="1" spc="-63" dirty="0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Healthcare Presentation</a:t>
            </a:r>
          </a:p>
        </p:txBody>
      </p:sp>
      <p:sp>
        <p:nvSpPr>
          <p:cNvPr id="1048635" name="Rectangle 6"/>
          <p:cNvSpPr/>
          <p:nvPr/>
        </p:nvSpPr>
        <p:spPr>
          <a:xfrm>
            <a:off x="867852" y="8213442"/>
            <a:ext cx="7622482" cy="9233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E"/>
          </a:p>
        </p:txBody>
      </p:sp>
      <p:sp>
        <p:nvSpPr>
          <p:cNvPr id="1048636" name="TextBox 11"/>
          <p:cNvSpPr txBox="1"/>
          <p:nvPr/>
        </p:nvSpPr>
        <p:spPr>
          <a:xfrm>
            <a:off x="851523" y="197096"/>
            <a:ext cx="9125527" cy="23854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6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Health access should  be simple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6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Any phone, Any location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n-US" sz="3600" i="1" dirty="0">
                <a:solidFill>
                  <a:srgbClr val="FFFFFF"/>
                </a:solidFill>
                <a:latin typeface="Helvetica World Italics"/>
                <a:ea typeface="Helvetica World Italics"/>
                <a:cs typeface="Helvetica World Italics"/>
                <a:sym typeface="Helvetica World Italics"/>
              </a:rPr>
              <a:t>Instant access to Healthcare </a:t>
            </a:r>
          </a:p>
        </p:txBody>
      </p:sp>
      <p:sp>
        <p:nvSpPr>
          <p:cNvPr id="1048637" name="Rectangle 5"/>
          <p:cNvSpPr/>
          <p:nvPr/>
        </p:nvSpPr>
        <p:spPr>
          <a:xfrm>
            <a:off x="689070" y="8018456"/>
            <a:ext cx="7622481" cy="169164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Haettenschweiler" panose="020B0706040902060204" pitchFamily="34" charset="0"/>
              </a:rPr>
              <a:t>Kenya Health Access Platform </a:t>
            </a:r>
          </a:p>
        </p:txBody>
      </p:sp>
      <p:pic>
        <p:nvPicPr>
          <p:cNvPr id="2097162" name="Picture 3"/>
          <p:cNvPicPr>
            <a:picLocks noChangeAspect="1"/>
          </p:cNvPicPr>
          <p:nvPr/>
        </p:nvPicPr>
        <p:blipFill>
          <a:blip r:embed="rId3" cstate="print"/>
          <a:srcRect l="1713" r="1713"/>
          <a:stretch>
            <a:fillRect/>
          </a:stretch>
        </p:blipFill>
        <p:spPr>
          <a:xfrm>
            <a:off x="9547079" y="0"/>
            <a:ext cx="8740922" cy="8934452"/>
          </a:xfrm>
          <a:prstGeom prst="rect">
            <a:avLst/>
          </a:prstGeom>
        </p:spPr>
      </p:pic>
      <p:sp>
        <p:nvSpPr>
          <p:cNvPr id="1048638" name="TextBox 11"/>
          <p:cNvSpPr txBox="1"/>
          <p:nvPr/>
        </p:nvSpPr>
        <p:spPr>
          <a:xfrm>
            <a:off x="10169208" y="9349116"/>
            <a:ext cx="82249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Poppins" panose="00000500000000000000" pitchFamily="2" charset="0"/>
                <a:cs typeface="Poppins" panose="00000500000000000000" pitchFamily="2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https://kenya-health-access.vercel.app/</a:t>
            </a:r>
            <a:endParaRPr lang="en-US" sz="2800" b="1" dirty="0">
              <a:solidFill>
                <a:schemeClr val="bg1"/>
              </a:solidFill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ACFF191-D21F-8DB2-5B07-A1E7077ACDB9}"/>
              </a:ext>
            </a:extLst>
          </p:cNvPr>
          <p:cNvSpPr/>
          <p:nvPr/>
        </p:nvSpPr>
        <p:spPr>
          <a:xfrm>
            <a:off x="1224704" y="4850393"/>
            <a:ext cx="4216796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Victor Muiruri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Lorenzo Kibet</a:t>
            </a:r>
          </a:p>
          <a:p>
            <a:pPr algn="ctr"/>
            <a:r>
              <a:rPr lang="en-US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Zedrick Biwott</a:t>
            </a:r>
            <a:endParaRPr lang="en-US" sz="54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B2972C-4CA2-B5AE-5741-5D54FE49D12D}"/>
              </a:ext>
            </a:extLst>
          </p:cNvPr>
          <p:cNvSpPr/>
          <p:nvPr/>
        </p:nvSpPr>
        <p:spPr>
          <a:xfrm>
            <a:off x="2410124" y="4001737"/>
            <a:ext cx="18459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u="sng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410</Words>
  <Application>Microsoft Office PowerPoint</Application>
  <PresentationFormat>Custom</PresentationFormat>
  <Paragraphs>80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Helvetica World</vt:lpstr>
      <vt:lpstr>Helvetica World Italics</vt:lpstr>
      <vt:lpstr>Calibri</vt:lpstr>
      <vt:lpstr>Montserrat Medium</vt:lpstr>
      <vt:lpstr>Arial</vt:lpstr>
      <vt:lpstr>Poppins</vt:lpstr>
      <vt:lpstr>Haettenschweiler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Healthcare Medical Presentation</dc:title>
  <dc:creator>loren</dc:creator>
  <cp:lastModifiedBy>Victor Muiruri</cp:lastModifiedBy>
  <cp:revision>2</cp:revision>
  <dcterms:created xsi:type="dcterms:W3CDTF">2006-08-15T18:00:00Z</dcterms:created>
  <dcterms:modified xsi:type="dcterms:W3CDTF">2026-05-20T14:09:05Z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80ac2a4365d442ac9c87087970f0c30b</vt:lpwstr>
  </property>
</Properties>
</file>